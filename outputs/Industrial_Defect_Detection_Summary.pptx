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7107f11f71424e" /><Relationship Type="http://schemas.openxmlformats.org/officeDocument/2006/relationships/extended-properties" Target="/docProps/app.xml" Id="R33bd6f3ca51d484c" /><Relationship Type="http://schemas.openxmlformats.org/officeDocument/2006/relationships/officeDocument" Target="/ppt/presentation.xml" Id="R05915280ec0b40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a8dea22f141fa"/>
  </p:sldMasterIdLst>
  <p:notesMasterIdLst>
    <p:notesMasterId xmlns:r="http://schemas.openxmlformats.org/officeDocument/2006/relationships" r:id="Rc16292faf78642e0"/>
  </p:notesMasterIdLst>
  <p:sldIdLst>
    <p:sldId xmlns:r="http://schemas.openxmlformats.org/officeDocument/2006/relationships" id="256" r:id="Rf979bd1d1bb545bb"/>
    <p:sldId xmlns:r="http://schemas.openxmlformats.org/officeDocument/2006/relationships" id="257" r:id="R8c2d157ee818464d"/>
    <p:sldId xmlns:r="http://schemas.openxmlformats.org/officeDocument/2006/relationships" id="258" r:id="R261c3a5963804c49"/>
    <p:sldId xmlns:r="http://schemas.openxmlformats.org/officeDocument/2006/relationships" id="259" r:id="Rfd0acd0257ff4370"/>
    <p:sldId xmlns:r="http://schemas.openxmlformats.org/officeDocument/2006/relationships" id="260" r:id="R51191b25dee341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800e3ddc1a480b" /><Relationship Type="http://schemas.openxmlformats.org/officeDocument/2006/relationships/slideMaster" Target="/ppt/slideMasters/slideMaster1.xml" Id="Rf79a8dea22f141fa" /><Relationship Type="http://schemas.openxmlformats.org/officeDocument/2006/relationships/notesMaster" Target="/ppt/notesMasters/notesMaster1.xml" Id="Rc16292faf78642e0" /><Relationship Type="http://schemas.openxmlformats.org/officeDocument/2006/relationships/presProps" Target="/ppt/presProps.xml" Id="Rd5ac90e0e9754833" /><Relationship Type="http://schemas.openxmlformats.org/officeDocument/2006/relationships/tableStyles" Target="/ppt/tableStyles.xml" Id="R6ce4ea7c75604d1f" /><Relationship Type="http://schemas.openxmlformats.org/officeDocument/2006/relationships/slide" Target="/ppt/slides/slide1.xml" Id="Rf979bd1d1bb545bb" /><Relationship Type="http://schemas.openxmlformats.org/officeDocument/2006/relationships/slide" Target="/ppt/slides/slide2.xml" Id="R8c2d157ee818464d" /><Relationship Type="http://schemas.openxmlformats.org/officeDocument/2006/relationships/slide" Target="/ppt/slides/slide3.xml" Id="R261c3a5963804c49" /><Relationship Type="http://schemas.openxmlformats.org/officeDocument/2006/relationships/slide" Target="/ppt/slides/slide4.xml" Id="Rfd0acd0257ff4370" /><Relationship Type="http://schemas.openxmlformats.org/officeDocument/2006/relationships/slide" Target="/ppt/slides/slide5.xml" Id="R51191b25dee3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b3e163b2614b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1d40de4634f1f" /><Relationship Type="http://schemas.openxmlformats.org/officeDocument/2006/relationships/notesMaster" Target="/ppt/notesMasters/notesMaster1.xml" Id="R4323235e6b194f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6c69ba34bf461a" /><Relationship Type="http://schemas.openxmlformats.org/officeDocument/2006/relationships/notesMaster" Target="/ppt/notesMasters/notesMaster1.xml" Id="R71454918d6024a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085df0812e4053" /><Relationship Type="http://schemas.openxmlformats.org/officeDocument/2006/relationships/notesMaster" Target="/ppt/notesMasters/notesMaster1.xml" Id="Rdcc662435a6c43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046dcb207e481a" /><Relationship Type="http://schemas.openxmlformats.org/officeDocument/2006/relationships/notesMaster" Target="/ppt/notesMasters/notesMaster1.xml" Id="R2d10add88cfa42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7ae60a13c24ada" /><Relationship Type="http://schemas.openxmlformats.org/officeDocument/2006/relationships/notesMaster" Target="/ppt/notesMasters/notesMaster1.xml" Id="Rf7b0d52e7ef7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facts and the notebook rationale. The notebook reports 1,800 grayscale 200×200 images, six classes with 300 images each, and describes both ResNet-50 and EfficientNet-B0 as ImageNet-pretrained transfer-learning approaches.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Preprocessing and augmentation follow cells 4–5 and the dataset class-count output. Grad-CAM output is qualitative evidence; edge/texture/intensity interpretations come from the notebook summary and should not be read as a feature-importance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comparison values are copied from the notebook’s test-set comparison table. Latency depends on the notebook hardware and timing method; it is not a deployment guarantee. Parameter ratio: 24.03M / 4.02M ≈ 6.0.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uses stratified 70/15/15 splits with random_state=42. The 270-image test set has 45 examples per class. EfficientNet-B0 made one error: scratches → inclusion. Macro F1 and precision/recall are reported.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and recommendations are framed as next experiments rather than measured notebook outcomes. The notebook tests one fixed 270-image holdout from NEU and reports a six-image demo; those data do not establish production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8e33d2ee548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a6daca7fcc4506" /><Relationship Type="http://schemas.openxmlformats.org/officeDocument/2006/relationships/slideLayout" Target="/ppt/slideLayouts/slideLayout1.xml" Id="R8b4c83a025b141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4c83a025b141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68e7b0fc24ec4" /><Relationship Type="http://schemas.openxmlformats.org/officeDocument/2006/relationships/notesSlide" Target="/ppt/notesSlides/notesSlide1.xml" Id="Rd7b8a710f1ff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be8ee2b1b4925" /><Relationship Type="http://schemas.openxmlformats.org/officeDocument/2006/relationships/notesSlide" Target="/ppt/notesSlides/notesSlide2.xml" Id="R6a60af595f03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5442e79b4e9a" /><Relationship Type="http://schemas.openxmlformats.org/officeDocument/2006/relationships/chart" Target="/ppt/slides/charts/chart1.xml" Id="R3eaa2411f89a46b4" /><Relationship Type="http://schemas.openxmlformats.org/officeDocument/2006/relationships/notesSlide" Target="/ppt/notesSlides/notesSlide3.xml" Id="R2e6171aa16bd4d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4bef3d0b042d6" /><Relationship Type="http://schemas.openxmlformats.org/officeDocument/2006/relationships/notesSlide" Target="/ppt/notesSlides/notesSlide4.xml" Id="R6ca967828183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6bac2214545d0" /><Relationship Type="http://schemas.openxmlformats.org/officeDocument/2006/relationships/notesSlide" Target="/ppt/notesSlides/notesSlide5.xml" Id="R4f8ec03bcfc24b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007F78"/>
            </a:solidFill>
          </c:spPr>
          <c:cat>
            <c:strRef>
              <c:f>'Chart Data'!$A$2:$A$4</c:f>
              <c:strCache>
                <c:ptCount val="3"/>
                <c:pt idx="0">
                  <c:v>Baseline CNN</c:v>
                </c:pt>
                <c:pt idx="1">
                  <c:v>ResNet-50</c:v>
                </c:pt>
                <c:pt idx="2">
                  <c:v>EfficientNet-B0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68.15</c:v>
                </c:pt>
                <c:pt idx="1">
                  <c:v>99.63</c:v>
                </c:pt>
                <c:pt idx="2">
                  <c:v>99.63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F5480-58A7-493E-9DE5-DDBC09A4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Steel surface defect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8DEE3-96B2-4624-986E-18B0C66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Source: Industrial_Defect_Detection.ipynb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2AF35-DACE-4B57-B3E0-06256C4D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3C70E-12C9-4E61-86E5-85E6FF6D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NEU benchmark  ·  six defect types  ·  grayscale texture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9C2C1-199C-4DB6-8425-C93FABEC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A666A-A1D2-4E02-9935-689362B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504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0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Classify each 200 × 200 steel image into one of six defect categories.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BE57B-6E8C-4F30-95F5-894C4A8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364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7C8ED-1C1A-4AAF-B8F3-BCE7EF2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907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images  ·  300 per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DFAC3-F39A-4EFA-9FAE-FEDF1702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Why transfer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CA8F4-B88F-4C8B-B32D-082CF1FC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Only 1,260 images train the model. ImageNet pretraining supplies reusable visual filters, while fine-tuning adapts them to steel textures.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2B764-1B1E-404E-B165-7DBC021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Benchmark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E6F66-1BE2-4B94-A1FF-ED17562F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Compare a small CNN trained from scratch with ResNet-50 and EfficientNet-B0. This tests whether pretrained features improve accuracy on a small, balanced dataset.</a:t>
            </a:r>
          </a:p>
        </p:txBody>
      </p:sp>
    </p:spTree>
    <p:extLst>
      <p:ext uri="{BB962C8B-B14F-4D97-AF65-F5344CB8AC3E}">
        <p14:creationId xmlns:p14="http://schemas.microsoft.com/office/powerpoint/2010/main" val="948598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4AF41-C6B6-4878-8BC9-ADF6EE0F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Preprocessing and useful visual cues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1D408-610F-40CE-B499-BE88D59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Source: Industrial_Defect_Detection.ipynb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3B7F8-4B55-4A26-8C3E-60D579D9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D2D4C-7483-4F08-B822-BBB63D3E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Input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69648-474B-4001-BE68-D65DC019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Grayscale → 3-channel RGB → resize to 224 × 224 → ImageNet normalization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AA153-032B-4E4C-9196-04FD558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Training augmentation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8C7F7-1786-4449-8365-565AC15A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Flips, 90° turns, affine shifts/rotations, CLAHE, brightness/contrast changes and noise broaden the small training 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22A42-5D2C-4D65-940B-E0BB8FD0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Why these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757BC-7196-4C27-B35C-02F67DE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0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CLAHE can expose faint contrast; geometric and photometric changes reduce sensitivity to orientation, position and lighting. Validation/test used resize + normalization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47BC0-8246-4CDA-B7E8-57F53E23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What the network learned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5DD5D-984D-49DD-BE68-674210FE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Grad-CAM highlights defect regions. The notebook interprets these cues as: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49683-B040-4668-9234-CC692BF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Edges and 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15984-5E1C-415B-8046-B180680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050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scratches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8556E-2763-4928-BA69-35599BB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Fine texture networks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16A47-314C-438C-B842-846C6AC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crazing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5EC31-4F26-4B50-96B7-BDF4ED95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7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Local intensity 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339C0-5463-401A-9CCB-A6A2C43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9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inclusions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3429A-F48D-4910-9F33-1FD794C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All six classes had 300 images; no resampling or class weighting was needed for this benchmark.</a:t>
            </a:r>
          </a:p>
        </p:txBody>
      </p:sp>
    </p:spTree>
    <p:extLst>
      <p:ext uri="{BB962C8B-B14F-4D97-AF65-F5344CB8AC3E}">
        <p14:creationId xmlns:p14="http://schemas.microsoft.com/office/powerpoint/2010/main" val="1766505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D188E-6460-4948-B575-1097658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27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EfficientNet-B0 ties for accuracy with a smaller footprint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85267-81CB-4508-BB39-7256612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Source: Industrial_Defect_Detection.ipynb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0B4EF-990C-423C-B0CA-58A3C343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51EDF-4B05-4193-B660-F5E0F49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Test accuracy (%)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aa2411f89a46b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5DC5B-2630-4EB9-B0A9-FA68CB50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5DA21-CBDD-4619-B448-CE89389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81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ACCURACY / MACRO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A6261-F9A2-4CE6-BE9E-D6DD89D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574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1C7FD-3A10-4705-A6F8-D0386BE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478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Baseline 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8E201-8699-44E4-910A-18F6C7E5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68.15% / 68.53%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7948F-1C6A-4684-A1F0-9739684D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84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0.36M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4C742-95AC-4CB3-A7CD-E247620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ResNet-50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BB55F-7737-4DDA-9797-3FA95926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99.63% / 99.63%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EA3A9-9BF3-4890-9558-7CB0E734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24.03M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77F0D-DEE5-452A-8539-9275EC97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7A62D-2281-4D3E-9464-5DEBBAC9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95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99.63% / 99.63%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D9399-BA9A-442D-93A3-41FBA77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95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4.02M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02B74-A570-4D8C-A451-69B3CB4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4524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754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Same test score as ResNet-50 with about 6× fewer parameters; the notebook reports 0.55 ms/image versus 0.70 ms/image on its test setup.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054D0-5FC8-4F41-8AD5-7D47F288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435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Best practical choice in this comparison: EfficientNet-B0.</a:t>
            </a:r>
          </a:p>
        </p:txBody>
      </p:sp>
    </p:spTree>
    <p:extLst>
      <p:ext uri="{BB962C8B-B14F-4D97-AF65-F5344CB8AC3E}">
        <p14:creationId xmlns:p14="http://schemas.microsoft.com/office/powerpoint/2010/main" val="1645063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116D0-D8BB-4C19-A38C-1F7EFCCD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Evaluation: strong holdout result, one observed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AFDCF-BAAD-4E90-88A9-F54A91A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Source: Industrial_Defect_Detection.ipynb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5E4D5-562E-48A5-B62E-866FFD6D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EF50B-48F2-4F46-9005-57EC8A18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Split and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3A1FD-FE24-424B-8D16-D688E7B0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Stratified split: 70% train (1,260) · 15% validation (270) · 15% test (270)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DB9AB-4DF3-484C-BE36-0393F1A6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1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Primary comparison: macro F1; also accuracy, macro precision/recall, per-class report and confusion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09AA8-F3E8-4141-91E4-C1B3F68E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0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EfficientNet-B0 on test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633F3-673B-4E1C-BAF3-BCA74527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62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99.63%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D179C-4AB4-430F-B722-5B057CE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accuracy  ·  99.63%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C4861-95D4-4D69-A22E-8E6B2C0B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269 / 270 correct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BF358-4DF0-4A4A-9F6B-258C832E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B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4B3B"/>
                </a:solidFill>
                <a:latin typeface="Arial"/>
                <a:ea typeface="Arial"/>
                <a:cs typeface="Arial"/>
              </a:rPr>
              <a:t>Observed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9B3F1-526D-4D5B-AC85-E4CFF04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One true scratch was classified as an inclusion (86.0% predicted confidence; 9.3% probability assigned to the true class).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78BBC-3AEC-4124-9580-FF10250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Per-class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FE53D-474A-47F0-ACCD-F233BB91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100% for four classes; 97.78% for scratches; 100% for inclusion. Inclusion precision was 97.83%.</a:t>
            </a:r>
          </a:p>
        </p:txBody>
      </p:sp>
    </p:spTree>
    <p:extLst>
      <p:ext uri="{BB962C8B-B14F-4D97-AF65-F5344CB8AC3E}">
        <p14:creationId xmlns:p14="http://schemas.microsoft.com/office/powerpoint/2010/main" val="1046705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0C077-34CB-4AB3-9DE8-1CF00EA5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Limits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7D56A-A1E6-4315-B63A-2D7D4742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Source: Industrial_Defect_Detection.ipynb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87E0F-6015-4E29-9609-B7F5CBB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9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5A281-86B1-4677-9830-7580522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E1905-51A2-485E-B0FF-6D24A1BE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3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3D"/>
                </a:solidFill>
                <a:latin typeface="Arial"/>
                <a:ea typeface="Arial"/>
                <a:cs typeface="Arial"/>
              </a:rPr>
              <a:t>EfficientNet-B0 separates the six NEU classes very well on one stratified holdout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A5D43-9E95-4020-828A-4D197E99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4B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4B3B"/>
                </a:solidFill>
                <a:latin typeface="Arial"/>
                <a:ea typeface="Arial"/>
                <a:cs typeface="Arial"/>
              </a:rPr>
              <a:t>What remains uncertain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9189F-2676-4AFE-AAEF-4A80DE38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85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Small, balanced, single-source dataset; one fixed split; no external plant/domain test. The six-image demo does not establish generalization. High accuracy may not transfer to new mills, cameras or defect severity.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6E499-3D57-45BC-99CB-6318D334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19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Stronger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762DD-AE5E-4282-A066-15913C8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1  Test on a separate mill, camera or production lot; split by source/lot to avoid near-duplicate leakage.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BA193-A4A0-479B-8FC0-55FD145B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2  Repeat with cross-validation and report confidence intervals plus per-class error counts.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5B0BC-B084-4716-AA36-AE73A95A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3  Add difficult and rare examples; evaluate calibration and an abstain/review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05A95-DBAA-4A4D-9A6B-8EA7FE22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960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C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3D"/>
                </a:solidFill>
                <a:latin typeface="Arial"/>
                <a:ea typeface="Arial"/>
                <a:cs typeface="Arial"/>
              </a:rPr>
              <a:t>4  For deployment, benchmark end-to-end latency and extend from image classification to defect localization if operators need defect position.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410DF-3437-4962-A833-2EC1875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Next milestone: validate on a separate production source.</a:t>
            </a:r>
          </a:p>
        </p:txBody>
      </p:sp>
    </p:spTree>
    <p:extLst>
      <p:ext uri="{BB962C8B-B14F-4D97-AF65-F5344CB8AC3E}">
        <p14:creationId xmlns:p14="http://schemas.microsoft.com/office/powerpoint/2010/main" val="991302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2026-10-01T07:07:56.4770000Z</dcterms:created>
  <dcterms:modified xsi:type="dcterms:W3CDTF">2026-10-01T07:07:56.4770000Z</dcterms:modified>
</coreProperties>
</file>